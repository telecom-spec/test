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36C-830A-4038-90F6-DD1912644135}" type="datetimeFigureOut">
              <a:rPr lang="en-CA" smtClean="0"/>
              <a:t>2023-12-09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D35B3-79BD-431B-807C-5C97514679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884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36C-830A-4038-90F6-DD1912644135}" type="datetimeFigureOut">
              <a:rPr lang="en-CA" smtClean="0"/>
              <a:t>2023-12-09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D35B3-79BD-431B-807C-5C97514679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5044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36C-830A-4038-90F6-DD1912644135}" type="datetimeFigureOut">
              <a:rPr lang="en-CA" smtClean="0"/>
              <a:t>2023-12-09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D35B3-79BD-431B-807C-5C97514679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098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36C-830A-4038-90F6-DD1912644135}" type="datetimeFigureOut">
              <a:rPr lang="en-CA" smtClean="0"/>
              <a:t>2023-12-09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D35B3-79BD-431B-807C-5C97514679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519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36C-830A-4038-90F6-DD1912644135}" type="datetimeFigureOut">
              <a:rPr lang="en-CA" smtClean="0"/>
              <a:t>2023-12-09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D35B3-79BD-431B-807C-5C97514679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20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36C-830A-4038-90F6-DD1912644135}" type="datetimeFigureOut">
              <a:rPr lang="en-CA" smtClean="0"/>
              <a:t>2023-12-09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D35B3-79BD-431B-807C-5C97514679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65966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36C-830A-4038-90F6-DD1912644135}" type="datetimeFigureOut">
              <a:rPr lang="en-CA" smtClean="0"/>
              <a:t>2023-12-09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D35B3-79BD-431B-807C-5C97514679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679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36C-830A-4038-90F6-DD1912644135}" type="datetimeFigureOut">
              <a:rPr lang="en-CA" smtClean="0"/>
              <a:t>2023-12-09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D35B3-79BD-431B-807C-5C97514679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040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36C-830A-4038-90F6-DD1912644135}" type="datetimeFigureOut">
              <a:rPr lang="en-CA" smtClean="0"/>
              <a:t>2023-12-09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D35B3-79BD-431B-807C-5C97514679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2752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36C-830A-4038-90F6-DD1912644135}" type="datetimeFigureOut">
              <a:rPr lang="en-CA" smtClean="0"/>
              <a:t>2023-12-09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D35B3-79BD-431B-807C-5C97514679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896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9136C-830A-4038-90F6-DD1912644135}" type="datetimeFigureOut">
              <a:rPr lang="en-CA" smtClean="0"/>
              <a:t>2023-12-09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D35B3-79BD-431B-807C-5C97514679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656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9136C-830A-4038-90F6-DD1912644135}" type="datetimeFigureOut">
              <a:rPr lang="en-CA" smtClean="0"/>
              <a:t>2023-12-09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D35B3-79BD-431B-807C-5C975146792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65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3505" y="283560"/>
            <a:ext cx="109474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What is </a:t>
            </a:r>
            <a:r>
              <a:rPr lang="en-US" sz="1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Stateful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and stateless Application?</a:t>
            </a:r>
          </a:p>
          <a:p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n-US" sz="1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Stateful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Application: The Application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which retain information about their previous interactions or state, allowing them to remember past data or user inputs 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is called as </a:t>
            </a:r>
            <a:r>
              <a:rPr lang="en-US" sz="1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stateful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application. Examples – Database (</a:t>
            </a:r>
            <a:r>
              <a:rPr lang="en-US" sz="1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Mongodb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Oracledb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Cassendra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Jenkins, Web Browsers: Web browsers like Chrome, Firefox, Safari, etc., retain information about the browsing history, cookies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Stateless Application: The Application which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does not retain information about previous interactions or state, meaning they treat each request or interaction as independent and do not rely on past data 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are called as Stateless application. Examples – Static websites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, Content Delivery Networks (CDNs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), Firewall, Load balancer</a:t>
            </a:r>
            <a:endParaRPr lang="en-CA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3505" y="2488648"/>
            <a:ext cx="52678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K8s Cluster Diagram for Stateless + </a:t>
            </a:r>
            <a:r>
              <a:rPr lang="en-US" sz="1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Stateful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Application</a:t>
            </a:r>
            <a:endParaRPr lang="en-CA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19807" y="2879551"/>
            <a:ext cx="7833611" cy="36043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/>
          <p:cNvSpPr/>
          <p:nvPr/>
        </p:nvSpPr>
        <p:spPr>
          <a:xfrm>
            <a:off x="2147454" y="3195782"/>
            <a:ext cx="1440873" cy="30572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Control node</a:t>
            </a:r>
            <a:endParaRPr lang="en-CA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28586" y="3195782"/>
            <a:ext cx="1440873" cy="30572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Worker node1</a:t>
            </a:r>
            <a:endParaRPr lang="en-CA" sz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03357" y="3195782"/>
            <a:ext cx="1440873" cy="305723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Worker </a:t>
            </a:r>
            <a:r>
              <a:rPr lang="en-US" sz="12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node2</a:t>
            </a:r>
            <a:endParaRPr lang="en-CA" sz="1200" dirty="0"/>
          </a:p>
        </p:txBody>
      </p:sp>
      <p:sp>
        <p:nvSpPr>
          <p:cNvPr id="8" name="Flowchart: Connector 7"/>
          <p:cNvSpPr/>
          <p:nvPr/>
        </p:nvSpPr>
        <p:spPr>
          <a:xfrm>
            <a:off x="4647151" y="4096502"/>
            <a:ext cx="1003742" cy="1029218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Static website</a:t>
            </a:r>
            <a:endParaRPr lang="en-CA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" name="Flowchart: Connector 8"/>
          <p:cNvSpPr/>
          <p:nvPr/>
        </p:nvSpPr>
        <p:spPr>
          <a:xfrm>
            <a:off x="7061200" y="4096502"/>
            <a:ext cx="1016000" cy="1029218"/>
          </a:xfrm>
          <a:prstGeom prst="flowChartConnector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Database</a:t>
            </a:r>
            <a:endParaRPr lang="en-CA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1085" y="3819503"/>
            <a:ext cx="784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POD-11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19281" y="3819503"/>
            <a:ext cx="7841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POD-21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37429" y="3958002"/>
            <a:ext cx="483011" cy="1244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ClusterIP</a:t>
            </a:r>
            <a:endParaRPr lang="en-CA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951415" y="3988621"/>
            <a:ext cx="483011" cy="1244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dirty="0" err="1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NodePort</a:t>
            </a:r>
            <a:endParaRPr lang="en-CA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15" name="Straight Arrow Connector 14"/>
          <p:cNvCxnSpPr>
            <a:stCxn id="6" idx="1"/>
          </p:cNvCxnSpPr>
          <p:nvPr/>
        </p:nvCxnSpPr>
        <p:spPr>
          <a:xfrm flipV="1">
            <a:off x="4428586" y="4681738"/>
            <a:ext cx="218565" cy="42662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6"/>
          </p:cNvCxnSpPr>
          <p:nvPr/>
        </p:nvCxnSpPr>
        <p:spPr>
          <a:xfrm flipV="1">
            <a:off x="5650893" y="4580491"/>
            <a:ext cx="686536" cy="3062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3"/>
            <a:endCxn id="9" idx="2"/>
          </p:cNvCxnSpPr>
          <p:nvPr/>
        </p:nvCxnSpPr>
        <p:spPr>
          <a:xfrm>
            <a:off x="6820440" y="4580492"/>
            <a:ext cx="240760" cy="30619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Connector 19"/>
          <p:cNvSpPr/>
          <p:nvPr/>
        </p:nvSpPr>
        <p:spPr>
          <a:xfrm>
            <a:off x="8500410" y="4181017"/>
            <a:ext cx="790648" cy="829568"/>
          </a:xfrm>
          <a:prstGeom prst="flowChartConnec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PVC 21</a:t>
            </a:r>
            <a:endParaRPr lang="en-CA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2" name="Straight Arrow Connector 21"/>
          <p:cNvCxnSpPr>
            <a:stCxn id="9" idx="6"/>
            <a:endCxn id="20" idx="2"/>
          </p:cNvCxnSpPr>
          <p:nvPr/>
        </p:nvCxnSpPr>
        <p:spPr>
          <a:xfrm flipV="1">
            <a:off x="8077200" y="4595801"/>
            <a:ext cx="423210" cy="1531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027920" y="2879551"/>
            <a:ext cx="1076960" cy="35314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4" name="Flowchart: Connector 23"/>
          <p:cNvSpPr/>
          <p:nvPr/>
        </p:nvSpPr>
        <p:spPr>
          <a:xfrm>
            <a:off x="10171076" y="3349780"/>
            <a:ext cx="790648" cy="829568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PV 21</a:t>
            </a:r>
            <a:endParaRPr lang="en-CA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5" name="Flowchart: Connector 24"/>
          <p:cNvSpPr/>
          <p:nvPr/>
        </p:nvSpPr>
        <p:spPr>
          <a:xfrm>
            <a:off x="10171076" y="4412523"/>
            <a:ext cx="790648" cy="829568"/>
          </a:xfrm>
          <a:prstGeom prst="flowChartConnector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PV 22</a:t>
            </a:r>
            <a:endParaRPr lang="en-CA" sz="1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7" name="Straight Arrow Connector 26"/>
          <p:cNvCxnSpPr>
            <a:stCxn id="20" idx="6"/>
            <a:endCxn id="24" idx="2"/>
          </p:cNvCxnSpPr>
          <p:nvPr/>
        </p:nvCxnSpPr>
        <p:spPr>
          <a:xfrm flipV="1">
            <a:off x="9291058" y="3764564"/>
            <a:ext cx="880018" cy="831237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miley Face 27"/>
          <p:cNvSpPr/>
          <p:nvPr/>
        </p:nvSpPr>
        <p:spPr>
          <a:xfrm>
            <a:off x="402763" y="5214341"/>
            <a:ext cx="582541" cy="557600"/>
          </a:xfrm>
          <a:prstGeom prst="smileyFace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9" name="TextBox 28"/>
          <p:cNvSpPr txBox="1"/>
          <p:nvPr/>
        </p:nvSpPr>
        <p:spPr>
          <a:xfrm>
            <a:off x="129790" y="5760581"/>
            <a:ext cx="1251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Verdana" panose="020B0604030504040204" pitchFamily="34" charset="0"/>
                <a:ea typeface="Verdana" panose="020B0604030504040204" pitchFamily="34" charset="0"/>
              </a:rPr>
              <a:t>User from Outside Cluster</a:t>
            </a:r>
            <a:endParaRPr lang="en-CA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1" name="Straight Arrow Connector 30"/>
          <p:cNvCxnSpPr>
            <a:stCxn id="28" idx="6"/>
            <a:endCxn id="13" idx="1"/>
          </p:cNvCxnSpPr>
          <p:nvPr/>
        </p:nvCxnSpPr>
        <p:spPr>
          <a:xfrm flipV="1">
            <a:off x="985304" y="4611111"/>
            <a:ext cx="2966111" cy="88203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145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10028384" y="835861"/>
            <a:ext cx="1613475" cy="5105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/>
          <p:cNvSpPr/>
          <p:nvPr/>
        </p:nvSpPr>
        <p:spPr>
          <a:xfrm>
            <a:off x="880799" y="1027115"/>
            <a:ext cx="8682302" cy="5486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Con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09190" y="1579418"/>
            <a:ext cx="1254589" cy="11351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3272814" y="1558471"/>
            <a:ext cx="2163898" cy="11560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/>
          <p:cNvSpPr txBox="1"/>
          <p:nvPr/>
        </p:nvSpPr>
        <p:spPr>
          <a:xfrm>
            <a:off x="764269" y="374196"/>
            <a:ext cx="7668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ON PREMISES </a:t>
            </a:r>
            <a:r>
              <a:rPr lang="en-US" sz="2400" dirty="0" smtClean="0"/>
              <a:t>K8 CLUSTER WITH STATIC PV AND PVC</a:t>
            </a:r>
            <a:endParaRPr lang="en-CA" sz="2400" dirty="0"/>
          </a:p>
        </p:txBody>
      </p:sp>
      <p:sp>
        <p:nvSpPr>
          <p:cNvPr id="13" name="Oval 12"/>
          <p:cNvSpPr/>
          <p:nvPr/>
        </p:nvSpPr>
        <p:spPr>
          <a:xfrm>
            <a:off x="3530534" y="1787665"/>
            <a:ext cx="821194" cy="6026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latin typeface="Verdana" panose="020B0604030504040204" pitchFamily="34" charset="0"/>
                <a:ea typeface="Verdana" panose="020B0604030504040204" pitchFamily="34" charset="0"/>
              </a:rPr>
              <a:t>Spring boot POD 1</a:t>
            </a:r>
            <a:endParaRPr lang="en-CA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5679" y="1197254"/>
            <a:ext cx="1438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Control Node</a:t>
            </a:r>
            <a:endParaRPr lang="en-CA" dirty="0"/>
          </a:p>
        </p:txBody>
      </p:sp>
      <p:sp>
        <p:nvSpPr>
          <p:cNvPr id="16" name="TextBox 15"/>
          <p:cNvSpPr txBox="1"/>
          <p:nvPr/>
        </p:nvSpPr>
        <p:spPr>
          <a:xfrm>
            <a:off x="3280633" y="1173267"/>
            <a:ext cx="16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Worker Node 1</a:t>
            </a:r>
            <a:endParaRPr lang="en-CA" dirty="0"/>
          </a:p>
        </p:txBody>
      </p:sp>
      <p:sp>
        <p:nvSpPr>
          <p:cNvPr id="17" name="TextBox 16"/>
          <p:cNvSpPr txBox="1"/>
          <p:nvPr/>
        </p:nvSpPr>
        <p:spPr>
          <a:xfrm>
            <a:off x="6771294" y="1186966"/>
            <a:ext cx="1417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Work Node 2</a:t>
            </a:r>
            <a:endParaRPr lang="en-CA" dirty="0"/>
          </a:p>
        </p:txBody>
      </p:sp>
      <p:sp>
        <p:nvSpPr>
          <p:cNvPr id="21" name="Oval 20"/>
          <p:cNvSpPr/>
          <p:nvPr/>
        </p:nvSpPr>
        <p:spPr>
          <a:xfrm>
            <a:off x="2532944" y="3511519"/>
            <a:ext cx="1789526" cy="572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Cluster IP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619497" y="3511519"/>
            <a:ext cx="2151797" cy="5769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PVC fo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r mongo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 DB POD 1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6" name="Straight Arrow Connector 25"/>
          <p:cNvCxnSpPr>
            <a:stCxn id="13" idx="4"/>
            <a:endCxn id="21" idx="0"/>
          </p:cNvCxnSpPr>
          <p:nvPr/>
        </p:nvCxnSpPr>
        <p:spPr>
          <a:xfrm flipH="1">
            <a:off x="3427707" y="2390280"/>
            <a:ext cx="513424" cy="1121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436312" y="4729018"/>
            <a:ext cx="4687368" cy="14685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Oval 34"/>
          <p:cNvSpPr/>
          <p:nvPr/>
        </p:nvSpPr>
        <p:spPr>
          <a:xfrm>
            <a:off x="4608481" y="5075958"/>
            <a:ext cx="951923" cy="65578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 -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0" name="Straight Arrow Connector 39"/>
          <p:cNvCxnSpPr>
            <a:stCxn id="22" idx="4"/>
            <a:endCxn id="35" idx="0"/>
          </p:cNvCxnSpPr>
          <p:nvPr/>
        </p:nvCxnSpPr>
        <p:spPr>
          <a:xfrm flipH="1">
            <a:off x="5084443" y="4088466"/>
            <a:ext cx="610953" cy="987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n 43"/>
          <p:cNvSpPr/>
          <p:nvPr/>
        </p:nvSpPr>
        <p:spPr>
          <a:xfrm>
            <a:off x="10309144" y="1206070"/>
            <a:ext cx="914400" cy="1216152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Can 44"/>
          <p:cNvSpPr/>
          <p:nvPr/>
        </p:nvSpPr>
        <p:spPr>
          <a:xfrm>
            <a:off x="10323948" y="2735486"/>
            <a:ext cx="914400" cy="1216152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Can 45"/>
          <p:cNvSpPr/>
          <p:nvPr/>
        </p:nvSpPr>
        <p:spPr>
          <a:xfrm>
            <a:off x="10409476" y="4307948"/>
            <a:ext cx="914400" cy="1216152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9" name="Straight Arrow Connector 48"/>
          <p:cNvCxnSpPr>
            <a:endCxn id="47" idx="1"/>
          </p:cNvCxnSpPr>
          <p:nvPr/>
        </p:nvCxnSpPr>
        <p:spPr>
          <a:xfrm flipV="1">
            <a:off x="9097818" y="3388561"/>
            <a:ext cx="930566" cy="20701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63835" y="309897"/>
            <a:ext cx="292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STORAGE ARRAY/NFS SERVER</a:t>
            </a:r>
            <a:endParaRPr lang="en-CA" dirty="0"/>
          </a:p>
        </p:txBody>
      </p:sp>
      <p:sp>
        <p:nvSpPr>
          <p:cNvPr id="48" name="Oval 47"/>
          <p:cNvSpPr/>
          <p:nvPr/>
        </p:nvSpPr>
        <p:spPr>
          <a:xfrm>
            <a:off x="4446193" y="1817150"/>
            <a:ext cx="821194" cy="6026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latin typeface="Verdana" panose="020B0604030504040204" pitchFamily="34" charset="0"/>
                <a:ea typeface="Verdana" panose="020B0604030504040204" pitchFamily="34" charset="0"/>
              </a:rPr>
              <a:t>Mongo DB POD 1</a:t>
            </a:r>
            <a:endParaRPr lang="en-CA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3" name="Straight Arrow Connector 42"/>
          <p:cNvCxnSpPr>
            <a:stCxn id="21" idx="0"/>
            <a:endCxn id="48" idx="4"/>
          </p:cNvCxnSpPr>
          <p:nvPr/>
        </p:nvCxnSpPr>
        <p:spPr>
          <a:xfrm flipV="1">
            <a:off x="3427707" y="2419765"/>
            <a:ext cx="1429083" cy="1091754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8" idx="4"/>
            <a:endCxn id="22" idx="0"/>
          </p:cNvCxnSpPr>
          <p:nvPr/>
        </p:nvCxnSpPr>
        <p:spPr>
          <a:xfrm>
            <a:off x="4856790" y="2419765"/>
            <a:ext cx="838606" cy="109175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345747" y="1577670"/>
            <a:ext cx="2005444" cy="11368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Oval 66"/>
          <p:cNvSpPr/>
          <p:nvPr/>
        </p:nvSpPr>
        <p:spPr>
          <a:xfrm>
            <a:off x="6539451" y="1747552"/>
            <a:ext cx="821194" cy="6026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latin typeface="Verdana" panose="020B0604030504040204" pitchFamily="34" charset="0"/>
                <a:ea typeface="Verdana" panose="020B0604030504040204" pitchFamily="34" charset="0"/>
              </a:rPr>
              <a:t>Spring boot POD 2</a:t>
            </a:r>
            <a:endParaRPr lang="en-CA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70" name="Straight Arrow Connector 69"/>
          <p:cNvCxnSpPr>
            <a:stCxn id="67" idx="4"/>
            <a:endCxn id="21" idx="0"/>
          </p:cNvCxnSpPr>
          <p:nvPr/>
        </p:nvCxnSpPr>
        <p:spPr>
          <a:xfrm flipH="1">
            <a:off x="3427707" y="2350167"/>
            <a:ext cx="3522341" cy="1161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7434540" y="1747552"/>
            <a:ext cx="821194" cy="6026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latin typeface="Verdana" panose="020B0604030504040204" pitchFamily="34" charset="0"/>
                <a:ea typeface="Verdana" panose="020B0604030504040204" pitchFamily="34" charset="0"/>
              </a:rPr>
              <a:t>Mongo DB POD 2</a:t>
            </a:r>
            <a:endParaRPr lang="en-CA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72" name="Straight Arrow Connector 71"/>
          <p:cNvCxnSpPr>
            <a:stCxn id="21" idx="7"/>
            <a:endCxn id="71" idx="3"/>
          </p:cNvCxnSpPr>
          <p:nvPr/>
        </p:nvCxnSpPr>
        <p:spPr>
          <a:xfrm flipV="1">
            <a:off x="4060400" y="2261916"/>
            <a:ext cx="3494401" cy="1333494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1" idx="4"/>
            <a:endCxn id="22" idx="0"/>
          </p:cNvCxnSpPr>
          <p:nvPr/>
        </p:nvCxnSpPr>
        <p:spPr>
          <a:xfrm flipH="1">
            <a:off x="5695396" y="2350167"/>
            <a:ext cx="2149741" cy="116135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158629" y="5075958"/>
            <a:ext cx="951923" cy="65578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-2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7653592" y="5067299"/>
            <a:ext cx="951923" cy="65578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-3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4" name="Smiley Face 113"/>
          <p:cNvSpPr/>
          <p:nvPr/>
        </p:nvSpPr>
        <p:spPr>
          <a:xfrm>
            <a:off x="128452" y="4276777"/>
            <a:ext cx="543056" cy="452241"/>
          </a:xfrm>
          <a:prstGeom prst="smileyFace">
            <a:avLst/>
          </a:prstGeom>
          <a:solidFill>
            <a:schemeClr val="bg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9" name="Straight Arrow Connector 118"/>
          <p:cNvCxnSpPr>
            <a:stCxn id="28" idx="3"/>
            <a:endCxn id="13" idx="2"/>
          </p:cNvCxnSpPr>
          <p:nvPr/>
        </p:nvCxnSpPr>
        <p:spPr>
          <a:xfrm flipV="1">
            <a:off x="3263374" y="2088973"/>
            <a:ext cx="267160" cy="7411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>
            <a:off x="1254100" y="5412740"/>
            <a:ext cx="57713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815802" y="5273204"/>
            <a:ext cx="2714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1. Traffic between User – </a:t>
            </a:r>
            <a:r>
              <a:rPr lang="en-US" sz="1000" dirty="0" err="1" smtClean="0"/>
              <a:t>Nodeport</a:t>
            </a:r>
            <a:r>
              <a:rPr lang="en-US" sz="1000" dirty="0" smtClean="0"/>
              <a:t> – Spring App</a:t>
            </a:r>
            <a:endParaRPr lang="en-CA" sz="1000" dirty="0"/>
          </a:p>
        </p:txBody>
      </p:sp>
      <p:cxnSp>
        <p:nvCxnSpPr>
          <p:cNvPr id="128" name="Straight Arrow Connector 127"/>
          <p:cNvCxnSpPr/>
          <p:nvPr/>
        </p:nvCxnSpPr>
        <p:spPr>
          <a:xfrm>
            <a:off x="1237304" y="5688794"/>
            <a:ext cx="577132" cy="1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1831232" y="5589119"/>
            <a:ext cx="23118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2. Traffic between Spring App – </a:t>
            </a:r>
            <a:r>
              <a:rPr lang="en-US" sz="1000" dirty="0" err="1" smtClean="0"/>
              <a:t>ClusterIP</a:t>
            </a:r>
            <a:endParaRPr lang="en-CA" sz="1000" dirty="0"/>
          </a:p>
        </p:txBody>
      </p:sp>
      <p:cxnSp>
        <p:nvCxnSpPr>
          <p:cNvPr id="132" name="Straight Arrow Connector 131"/>
          <p:cNvCxnSpPr/>
          <p:nvPr/>
        </p:nvCxnSpPr>
        <p:spPr>
          <a:xfrm>
            <a:off x="1237304" y="5941261"/>
            <a:ext cx="576928" cy="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831232" y="5855539"/>
            <a:ext cx="22413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3. Traffic between </a:t>
            </a:r>
            <a:r>
              <a:rPr lang="en-US" sz="1000" dirty="0" err="1" smtClean="0"/>
              <a:t>ClusterIP</a:t>
            </a:r>
            <a:r>
              <a:rPr lang="en-US" sz="1000" dirty="0" smtClean="0"/>
              <a:t> - MongoDB</a:t>
            </a:r>
            <a:endParaRPr lang="en-CA" sz="1000" dirty="0"/>
          </a:p>
        </p:txBody>
      </p:sp>
      <p:cxnSp>
        <p:nvCxnSpPr>
          <p:cNvPr id="136" name="Straight Arrow Connector 135"/>
          <p:cNvCxnSpPr/>
          <p:nvPr/>
        </p:nvCxnSpPr>
        <p:spPr>
          <a:xfrm>
            <a:off x="1231410" y="6197600"/>
            <a:ext cx="56934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831232" y="6144184"/>
            <a:ext cx="19832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4. Traffic between MongoDB - PVC</a:t>
            </a:r>
            <a:endParaRPr lang="en-CA" sz="1000" dirty="0"/>
          </a:p>
        </p:txBody>
      </p:sp>
      <p:sp>
        <p:nvSpPr>
          <p:cNvPr id="138" name="TextBox 137"/>
          <p:cNvSpPr txBox="1"/>
          <p:nvPr/>
        </p:nvSpPr>
        <p:spPr>
          <a:xfrm>
            <a:off x="1254100" y="4924466"/>
            <a:ext cx="216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FLOW SEQUENCE</a:t>
            </a:r>
            <a:endParaRPr lang="en-CA" dirty="0"/>
          </a:p>
        </p:txBody>
      </p:sp>
      <p:sp>
        <p:nvSpPr>
          <p:cNvPr id="28" name="Rounded Rectangle 27"/>
          <p:cNvSpPr/>
          <p:nvPr/>
        </p:nvSpPr>
        <p:spPr>
          <a:xfrm>
            <a:off x="2815040" y="1735375"/>
            <a:ext cx="448334" cy="855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NodePort</a:t>
            </a:r>
            <a:endParaRPr lang="en-CA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904687" y="1717822"/>
            <a:ext cx="448334" cy="855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NodePort</a:t>
            </a:r>
            <a:endParaRPr lang="en-CA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9" name="Straight Arrow Connector 68"/>
          <p:cNvCxnSpPr>
            <a:stCxn id="68" idx="3"/>
            <a:endCxn id="67" idx="2"/>
          </p:cNvCxnSpPr>
          <p:nvPr/>
        </p:nvCxnSpPr>
        <p:spPr>
          <a:xfrm flipV="1">
            <a:off x="6353021" y="2048860"/>
            <a:ext cx="186430" cy="9667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4" idx="6"/>
            <a:endCxn id="28" idx="1"/>
          </p:cNvCxnSpPr>
          <p:nvPr/>
        </p:nvCxnSpPr>
        <p:spPr>
          <a:xfrm flipV="1">
            <a:off x="671508" y="2163088"/>
            <a:ext cx="2143532" cy="233981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68" idx="1"/>
          </p:cNvCxnSpPr>
          <p:nvPr/>
        </p:nvCxnSpPr>
        <p:spPr>
          <a:xfrm flipV="1">
            <a:off x="910032" y="2145535"/>
            <a:ext cx="4994655" cy="240481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980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10028384" y="835861"/>
            <a:ext cx="1613475" cy="5105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/>
          <p:cNvSpPr/>
          <p:nvPr/>
        </p:nvSpPr>
        <p:spPr>
          <a:xfrm>
            <a:off x="880799" y="1027115"/>
            <a:ext cx="8682302" cy="5486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Con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09190" y="1579418"/>
            <a:ext cx="1254589" cy="113512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3272814" y="1558471"/>
            <a:ext cx="2163898" cy="115606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Oval 12"/>
          <p:cNvSpPr/>
          <p:nvPr/>
        </p:nvSpPr>
        <p:spPr>
          <a:xfrm>
            <a:off x="3530534" y="1787665"/>
            <a:ext cx="821194" cy="6026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latin typeface="Verdana" panose="020B0604030504040204" pitchFamily="34" charset="0"/>
                <a:ea typeface="Verdana" panose="020B0604030504040204" pitchFamily="34" charset="0"/>
              </a:rPr>
              <a:t>Spring boot POD 1</a:t>
            </a:r>
            <a:endParaRPr lang="en-CA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5679" y="1197254"/>
            <a:ext cx="1438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Control Node</a:t>
            </a:r>
            <a:endParaRPr lang="en-CA" dirty="0"/>
          </a:p>
        </p:txBody>
      </p:sp>
      <p:sp>
        <p:nvSpPr>
          <p:cNvPr id="16" name="TextBox 15"/>
          <p:cNvSpPr txBox="1"/>
          <p:nvPr/>
        </p:nvSpPr>
        <p:spPr>
          <a:xfrm>
            <a:off x="3280633" y="1173267"/>
            <a:ext cx="16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Worker Node 1</a:t>
            </a:r>
            <a:endParaRPr lang="en-CA" dirty="0"/>
          </a:p>
        </p:txBody>
      </p:sp>
      <p:sp>
        <p:nvSpPr>
          <p:cNvPr id="17" name="TextBox 16"/>
          <p:cNvSpPr txBox="1"/>
          <p:nvPr/>
        </p:nvSpPr>
        <p:spPr>
          <a:xfrm>
            <a:off x="6771294" y="1186966"/>
            <a:ext cx="1417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Work Node 2</a:t>
            </a:r>
            <a:endParaRPr lang="en-CA" dirty="0"/>
          </a:p>
        </p:txBody>
      </p:sp>
      <p:sp>
        <p:nvSpPr>
          <p:cNvPr id="21" name="Oval 20"/>
          <p:cNvSpPr/>
          <p:nvPr/>
        </p:nvSpPr>
        <p:spPr>
          <a:xfrm>
            <a:off x="2532944" y="3511519"/>
            <a:ext cx="1789526" cy="57284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Cluster IP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619497" y="3511519"/>
            <a:ext cx="2151797" cy="5769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PVC fo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r mongo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 DB POD 1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6" name="Straight Arrow Connector 25"/>
          <p:cNvCxnSpPr>
            <a:stCxn id="13" idx="4"/>
            <a:endCxn id="21" idx="0"/>
          </p:cNvCxnSpPr>
          <p:nvPr/>
        </p:nvCxnSpPr>
        <p:spPr>
          <a:xfrm flipH="1">
            <a:off x="3427707" y="2390280"/>
            <a:ext cx="513424" cy="1121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436312" y="4729018"/>
            <a:ext cx="4687368" cy="14685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Oval 34"/>
          <p:cNvSpPr/>
          <p:nvPr/>
        </p:nvSpPr>
        <p:spPr>
          <a:xfrm>
            <a:off x="4608481" y="5075958"/>
            <a:ext cx="951923" cy="65578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 -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1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0" name="Straight Arrow Connector 39"/>
          <p:cNvCxnSpPr>
            <a:stCxn id="22" idx="4"/>
            <a:endCxn id="35" idx="0"/>
          </p:cNvCxnSpPr>
          <p:nvPr/>
        </p:nvCxnSpPr>
        <p:spPr>
          <a:xfrm flipH="1">
            <a:off x="5084443" y="4088466"/>
            <a:ext cx="610953" cy="987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n 43"/>
          <p:cNvSpPr/>
          <p:nvPr/>
        </p:nvSpPr>
        <p:spPr>
          <a:xfrm>
            <a:off x="10309144" y="1206070"/>
            <a:ext cx="914400" cy="1216152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Can 44"/>
          <p:cNvSpPr/>
          <p:nvPr/>
        </p:nvSpPr>
        <p:spPr>
          <a:xfrm>
            <a:off x="10323948" y="2735486"/>
            <a:ext cx="914400" cy="1216152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Can 45"/>
          <p:cNvSpPr/>
          <p:nvPr/>
        </p:nvSpPr>
        <p:spPr>
          <a:xfrm>
            <a:off x="10409476" y="4307948"/>
            <a:ext cx="914400" cy="1216152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9" name="Straight Arrow Connector 48"/>
          <p:cNvCxnSpPr>
            <a:endCxn id="47" idx="1"/>
          </p:cNvCxnSpPr>
          <p:nvPr/>
        </p:nvCxnSpPr>
        <p:spPr>
          <a:xfrm flipV="1">
            <a:off x="9097818" y="3388561"/>
            <a:ext cx="930566" cy="20701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63835" y="309897"/>
            <a:ext cx="292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STORAGE ARRAY/NFS SERVER</a:t>
            </a:r>
            <a:endParaRPr lang="en-CA" dirty="0"/>
          </a:p>
        </p:txBody>
      </p:sp>
      <p:sp>
        <p:nvSpPr>
          <p:cNvPr id="48" name="Oval 47"/>
          <p:cNvSpPr/>
          <p:nvPr/>
        </p:nvSpPr>
        <p:spPr>
          <a:xfrm>
            <a:off x="4446193" y="1817150"/>
            <a:ext cx="821194" cy="6026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latin typeface="Verdana" panose="020B0604030504040204" pitchFamily="34" charset="0"/>
                <a:ea typeface="Verdana" panose="020B0604030504040204" pitchFamily="34" charset="0"/>
              </a:rPr>
              <a:t>Mongo DB POD 1</a:t>
            </a:r>
            <a:endParaRPr lang="en-CA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3" name="Straight Arrow Connector 42"/>
          <p:cNvCxnSpPr>
            <a:stCxn id="21" idx="0"/>
            <a:endCxn id="48" idx="4"/>
          </p:cNvCxnSpPr>
          <p:nvPr/>
        </p:nvCxnSpPr>
        <p:spPr>
          <a:xfrm flipV="1">
            <a:off x="3427707" y="2419765"/>
            <a:ext cx="1429083" cy="1091754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48" idx="4"/>
            <a:endCxn id="22" idx="0"/>
          </p:cNvCxnSpPr>
          <p:nvPr/>
        </p:nvCxnSpPr>
        <p:spPr>
          <a:xfrm>
            <a:off x="4856790" y="2419765"/>
            <a:ext cx="838606" cy="1091754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345747" y="1577670"/>
            <a:ext cx="2005444" cy="113686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7" name="Oval 66"/>
          <p:cNvSpPr/>
          <p:nvPr/>
        </p:nvSpPr>
        <p:spPr>
          <a:xfrm>
            <a:off x="6539451" y="1747552"/>
            <a:ext cx="821194" cy="6026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latin typeface="Verdana" panose="020B0604030504040204" pitchFamily="34" charset="0"/>
                <a:ea typeface="Verdana" panose="020B0604030504040204" pitchFamily="34" charset="0"/>
              </a:rPr>
              <a:t>Spring boot POD 2</a:t>
            </a:r>
            <a:endParaRPr lang="en-CA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70" name="Straight Arrow Connector 69"/>
          <p:cNvCxnSpPr>
            <a:stCxn id="67" idx="4"/>
            <a:endCxn id="21" idx="0"/>
          </p:cNvCxnSpPr>
          <p:nvPr/>
        </p:nvCxnSpPr>
        <p:spPr>
          <a:xfrm flipH="1">
            <a:off x="3427707" y="2350167"/>
            <a:ext cx="3522341" cy="1161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7434540" y="1747552"/>
            <a:ext cx="821194" cy="60261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 smtClean="0">
                <a:latin typeface="Verdana" panose="020B0604030504040204" pitchFamily="34" charset="0"/>
                <a:ea typeface="Verdana" panose="020B0604030504040204" pitchFamily="34" charset="0"/>
              </a:rPr>
              <a:t>Mongo DB POD 2</a:t>
            </a:r>
            <a:endParaRPr lang="en-CA" sz="9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72" name="Straight Arrow Connector 71"/>
          <p:cNvCxnSpPr>
            <a:stCxn id="21" idx="7"/>
            <a:endCxn id="71" idx="3"/>
          </p:cNvCxnSpPr>
          <p:nvPr/>
        </p:nvCxnSpPr>
        <p:spPr>
          <a:xfrm flipV="1">
            <a:off x="4060400" y="2261916"/>
            <a:ext cx="3494401" cy="1333494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71" idx="4"/>
            <a:endCxn id="51" idx="0"/>
          </p:cNvCxnSpPr>
          <p:nvPr/>
        </p:nvCxnSpPr>
        <p:spPr>
          <a:xfrm>
            <a:off x="7845137" y="2350167"/>
            <a:ext cx="121011" cy="115204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/>
          <p:cNvSpPr/>
          <p:nvPr/>
        </p:nvSpPr>
        <p:spPr>
          <a:xfrm>
            <a:off x="6158629" y="5075958"/>
            <a:ext cx="951923" cy="65578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-2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96" name="Oval 95"/>
          <p:cNvSpPr/>
          <p:nvPr/>
        </p:nvSpPr>
        <p:spPr>
          <a:xfrm>
            <a:off x="7653592" y="5067299"/>
            <a:ext cx="951923" cy="65578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 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-3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14" name="Smiley Face 113"/>
          <p:cNvSpPr/>
          <p:nvPr/>
        </p:nvSpPr>
        <p:spPr>
          <a:xfrm>
            <a:off x="128452" y="4276777"/>
            <a:ext cx="486016" cy="452241"/>
          </a:xfrm>
          <a:prstGeom prst="smileyFace">
            <a:avLst/>
          </a:prstGeom>
          <a:solidFill>
            <a:schemeClr val="bg2"/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19" name="Straight Arrow Connector 118"/>
          <p:cNvCxnSpPr>
            <a:stCxn id="28" idx="3"/>
            <a:endCxn id="13" idx="2"/>
          </p:cNvCxnSpPr>
          <p:nvPr/>
        </p:nvCxnSpPr>
        <p:spPr>
          <a:xfrm flipV="1">
            <a:off x="3263374" y="2088973"/>
            <a:ext cx="267160" cy="7411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>
            <a:off x="1254100" y="5412740"/>
            <a:ext cx="577132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1882431" y="5272080"/>
            <a:ext cx="2714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1. Traffic between User – </a:t>
            </a:r>
            <a:r>
              <a:rPr lang="en-US" sz="1000" dirty="0" err="1" smtClean="0"/>
              <a:t>Nodeport</a:t>
            </a:r>
            <a:r>
              <a:rPr lang="en-US" sz="1000" dirty="0" smtClean="0"/>
              <a:t> – Spring App</a:t>
            </a:r>
            <a:endParaRPr lang="en-CA" sz="1000" dirty="0"/>
          </a:p>
        </p:txBody>
      </p:sp>
      <p:cxnSp>
        <p:nvCxnSpPr>
          <p:cNvPr id="128" name="Straight Arrow Connector 127"/>
          <p:cNvCxnSpPr/>
          <p:nvPr/>
        </p:nvCxnSpPr>
        <p:spPr>
          <a:xfrm>
            <a:off x="1237304" y="5688794"/>
            <a:ext cx="577132" cy="173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TextBox 129"/>
          <p:cNvSpPr txBox="1"/>
          <p:nvPr/>
        </p:nvSpPr>
        <p:spPr>
          <a:xfrm>
            <a:off x="1831232" y="5589119"/>
            <a:ext cx="23118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2. Traffic between Spring App – </a:t>
            </a:r>
            <a:r>
              <a:rPr lang="en-US" sz="1000" dirty="0" err="1" smtClean="0"/>
              <a:t>ClusterIP</a:t>
            </a:r>
            <a:endParaRPr lang="en-CA" sz="1000" dirty="0"/>
          </a:p>
        </p:txBody>
      </p:sp>
      <p:cxnSp>
        <p:nvCxnSpPr>
          <p:cNvPr id="132" name="Straight Arrow Connector 131"/>
          <p:cNvCxnSpPr/>
          <p:nvPr/>
        </p:nvCxnSpPr>
        <p:spPr>
          <a:xfrm>
            <a:off x="1237304" y="5941261"/>
            <a:ext cx="576928" cy="0"/>
          </a:xfrm>
          <a:prstGeom prst="straightConnector1">
            <a:avLst/>
          </a:prstGeom>
          <a:ln w="1270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/>
          <p:cNvSpPr txBox="1"/>
          <p:nvPr/>
        </p:nvSpPr>
        <p:spPr>
          <a:xfrm>
            <a:off x="1831232" y="5855539"/>
            <a:ext cx="22413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3. Traffic between </a:t>
            </a:r>
            <a:r>
              <a:rPr lang="en-US" sz="1000" dirty="0" err="1" smtClean="0"/>
              <a:t>ClusterIP</a:t>
            </a:r>
            <a:r>
              <a:rPr lang="en-US" sz="1000" dirty="0" smtClean="0"/>
              <a:t> - MongoDB</a:t>
            </a:r>
            <a:endParaRPr lang="en-CA" sz="1000" dirty="0"/>
          </a:p>
        </p:txBody>
      </p:sp>
      <p:cxnSp>
        <p:nvCxnSpPr>
          <p:cNvPr id="136" name="Straight Arrow Connector 135"/>
          <p:cNvCxnSpPr/>
          <p:nvPr/>
        </p:nvCxnSpPr>
        <p:spPr>
          <a:xfrm>
            <a:off x="1231410" y="6197600"/>
            <a:ext cx="569342" cy="0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831232" y="6144184"/>
            <a:ext cx="19832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smtClean="0"/>
              <a:t>4. Traffic between MongoDB - PVC</a:t>
            </a:r>
            <a:endParaRPr lang="en-CA" sz="1000" dirty="0"/>
          </a:p>
        </p:txBody>
      </p:sp>
      <p:sp>
        <p:nvSpPr>
          <p:cNvPr id="138" name="TextBox 137"/>
          <p:cNvSpPr txBox="1"/>
          <p:nvPr/>
        </p:nvSpPr>
        <p:spPr>
          <a:xfrm>
            <a:off x="1254100" y="4924466"/>
            <a:ext cx="2163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FLOW SEQUENCE</a:t>
            </a:r>
            <a:endParaRPr lang="en-CA" dirty="0"/>
          </a:p>
        </p:txBody>
      </p:sp>
      <p:sp>
        <p:nvSpPr>
          <p:cNvPr id="51" name="Oval 50"/>
          <p:cNvSpPr/>
          <p:nvPr/>
        </p:nvSpPr>
        <p:spPr>
          <a:xfrm>
            <a:off x="6890249" y="3502209"/>
            <a:ext cx="2151797" cy="5769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PVC fo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r mongo</a:t>
            </a:r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 DB POD 2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52" name="Straight Arrow Connector 51"/>
          <p:cNvCxnSpPr>
            <a:stCxn id="51" idx="4"/>
            <a:endCxn id="90" idx="0"/>
          </p:cNvCxnSpPr>
          <p:nvPr/>
        </p:nvCxnSpPr>
        <p:spPr>
          <a:xfrm flipH="1">
            <a:off x="6634591" y="4079156"/>
            <a:ext cx="1331557" cy="996802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815040" y="1735375"/>
            <a:ext cx="448334" cy="855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NodePort</a:t>
            </a:r>
            <a:endParaRPr lang="en-CA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5904687" y="1717822"/>
            <a:ext cx="448334" cy="855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sz="10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NodePort</a:t>
            </a:r>
            <a:endParaRPr lang="en-CA" sz="1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69" name="Straight Arrow Connector 68"/>
          <p:cNvCxnSpPr>
            <a:stCxn id="68" idx="3"/>
            <a:endCxn id="67" idx="2"/>
          </p:cNvCxnSpPr>
          <p:nvPr/>
        </p:nvCxnSpPr>
        <p:spPr>
          <a:xfrm flipV="1">
            <a:off x="6353021" y="2048860"/>
            <a:ext cx="186430" cy="9667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114" idx="6"/>
            <a:endCxn id="28" idx="1"/>
          </p:cNvCxnSpPr>
          <p:nvPr/>
        </p:nvCxnSpPr>
        <p:spPr>
          <a:xfrm flipV="1">
            <a:off x="614468" y="2163088"/>
            <a:ext cx="2200572" cy="233981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68" idx="1"/>
          </p:cNvCxnSpPr>
          <p:nvPr/>
        </p:nvCxnSpPr>
        <p:spPr>
          <a:xfrm flipV="1">
            <a:off x="910032" y="2145535"/>
            <a:ext cx="4994655" cy="2404815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64269" y="374196"/>
            <a:ext cx="7668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ON PREMISES </a:t>
            </a:r>
            <a:r>
              <a:rPr lang="en-US" sz="2400" dirty="0" smtClean="0"/>
              <a:t>K8 CLUSTER WITH STATEFULSET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583047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/>
          <p:cNvSpPr/>
          <p:nvPr/>
        </p:nvSpPr>
        <p:spPr>
          <a:xfrm>
            <a:off x="10028384" y="835861"/>
            <a:ext cx="1613475" cy="5105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/>
          <p:cNvSpPr/>
          <p:nvPr/>
        </p:nvSpPr>
        <p:spPr>
          <a:xfrm>
            <a:off x="301193" y="943262"/>
            <a:ext cx="9153238" cy="5486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Con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66982" y="1616364"/>
            <a:ext cx="2170545" cy="108065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/>
          <p:cNvSpPr/>
          <p:nvPr/>
        </p:nvSpPr>
        <p:spPr>
          <a:xfrm>
            <a:off x="6405418" y="1616364"/>
            <a:ext cx="2170545" cy="108065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/>
          <p:cNvSpPr/>
          <p:nvPr/>
        </p:nvSpPr>
        <p:spPr>
          <a:xfrm>
            <a:off x="3934691" y="1616364"/>
            <a:ext cx="2170545" cy="1080654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/>
          <p:cNvSpPr txBox="1"/>
          <p:nvPr/>
        </p:nvSpPr>
        <p:spPr>
          <a:xfrm>
            <a:off x="327849" y="383539"/>
            <a:ext cx="6077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ON PREMISES </a:t>
            </a:r>
            <a:r>
              <a:rPr lang="en-US" sz="2400" dirty="0" smtClean="0"/>
              <a:t>SCENARIOS WITH STATEFULSET</a:t>
            </a:r>
            <a:endParaRPr lang="en-CA" sz="2400" dirty="0"/>
          </a:p>
        </p:txBody>
      </p:sp>
      <p:sp>
        <p:nvSpPr>
          <p:cNvPr id="13" name="Oval 12"/>
          <p:cNvSpPr/>
          <p:nvPr/>
        </p:nvSpPr>
        <p:spPr>
          <a:xfrm>
            <a:off x="4094018" y="1754909"/>
            <a:ext cx="741215" cy="6465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POD 11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29430" y="1247032"/>
            <a:ext cx="1438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Control Node</a:t>
            </a:r>
            <a:endParaRPr lang="en-CA" dirty="0"/>
          </a:p>
        </p:txBody>
      </p:sp>
      <p:sp>
        <p:nvSpPr>
          <p:cNvPr id="16" name="TextBox 15"/>
          <p:cNvSpPr txBox="1"/>
          <p:nvPr/>
        </p:nvSpPr>
        <p:spPr>
          <a:xfrm>
            <a:off x="4345479" y="1196291"/>
            <a:ext cx="16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Worker Node 1</a:t>
            </a:r>
            <a:endParaRPr lang="en-CA" dirty="0"/>
          </a:p>
        </p:txBody>
      </p:sp>
      <p:sp>
        <p:nvSpPr>
          <p:cNvPr id="17" name="TextBox 16"/>
          <p:cNvSpPr txBox="1"/>
          <p:nvPr/>
        </p:nvSpPr>
        <p:spPr>
          <a:xfrm>
            <a:off x="6771294" y="1186966"/>
            <a:ext cx="1417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Work Node 2</a:t>
            </a:r>
            <a:endParaRPr lang="en-CA" dirty="0"/>
          </a:p>
        </p:txBody>
      </p:sp>
      <p:sp>
        <p:nvSpPr>
          <p:cNvPr id="21" name="Oval 20"/>
          <p:cNvSpPr/>
          <p:nvPr/>
        </p:nvSpPr>
        <p:spPr>
          <a:xfrm>
            <a:off x="3634992" y="3357418"/>
            <a:ext cx="693883" cy="6080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PVC -11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09967" y="3371273"/>
            <a:ext cx="704792" cy="5803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PVC -12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219535" y="3373580"/>
            <a:ext cx="698501" cy="62576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PVC -21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605568" y="3401290"/>
            <a:ext cx="688688" cy="65347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PVC -22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26" name="Straight Arrow Connector 25"/>
          <p:cNvCxnSpPr>
            <a:stCxn id="13" idx="4"/>
            <a:endCxn id="21" idx="0"/>
          </p:cNvCxnSpPr>
          <p:nvPr/>
        </p:nvCxnSpPr>
        <p:spPr>
          <a:xfrm flipH="1">
            <a:off x="3981934" y="2401454"/>
            <a:ext cx="482692" cy="955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endCxn id="22" idx="0"/>
          </p:cNvCxnSpPr>
          <p:nvPr/>
        </p:nvCxnSpPr>
        <p:spPr>
          <a:xfrm flipH="1">
            <a:off x="5062363" y="2373746"/>
            <a:ext cx="352824" cy="997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61" idx="4"/>
          </p:cNvCxnSpPr>
          <p:nvPr/>
        </p:nvCxnSpPr>
        <p:spPr>
          <a:xfrm flipH="1">
            <a:off x="6595343" y="2371435"/>
            <a:ext cx="246496" cy="1037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4" idx="0"/>
          </p:cNvCxnSpPr>
          <p:nvPr/>
        </p:nvCxnSpPr>
        <p:spPr>
          <a:xfrm>
            <a:off x="7812520" y="2404276"/>
            <a:ext cx="137392" cy="997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366982" y="4729018"/>
            <a:ext cx="7730836" cy="14685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4" name="Oval 33"/>
          <p:cNvSpPr/>
          <p:nvPr/>
        </p:nvSpPr>
        <p:spPr>
          <a:xfrm>
            <a:off x="3504042" y="5124604"/>
            <a:ext cx="703698" cy="608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 -11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4709967" y="5076895"/>
            <a:ext cx="709931" cy="65578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 -12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6221956" y="5065289"/>
            <a:ext cx="705197" cy="68307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 -21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607589" y="5032055"/>
            <a:ext cx="660980" cy="69968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PV -22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39" name="Straight Arrow Connector 38"/>
          <p:cNvCxnSpPr>
            <a:stCxn id="21" idx="4"/>
            <a:endCxn id="34" idx="0"/>
          </p:cNvCxnSpPr>
          <p:nvPr/>
        </p:nvCxnSpPr>
        <p:spPr>
          <a:xfrm flipH="1">
            <a:off x="3855891" y="3965494"/>
            <a:ext cx="126043" cy="1159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2" idx="4"/>
            <a:endCxn id="35" idx="0"/>
          </p:cNvCxnSpPr>
          <p:nvPr/>
        </p:nvCxnSpPr>
        <p:spPr>
          <a:xfrm>
            <a:off x="5062363" y="3951639"/>
            <a:ext cx="2570" cy="1125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6" idx="0"/>
          </p:cNvCxnSpPr>
          <p:nvPr/>
        </p:nvCxnSpPr>
        <p:spPr>
          <a:xfrm flipH="1">
            <a:off x="6574555" y="3999345"/>
            <a:ext cx="4624" cy="1065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24" idx="4"/>
          </p:cNvCxnSpPr>
          <p:nvPr/>
        </p:nvCxnSpPr>
        <p:spPr>
          <a:xfrm flipH="1">
            <a:off x="7938079" y="4054763"/>
            <a:ext cx="11833" cy="9772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an 43"/>
          <p:cNvSpPr/>
          <p:nvPr/>
        </p:nvSpPr>
        <p:spPr>
          <a:xfrm>
            <a:off x="10309144" y="1206070"/>
            <a:ext cx="914400" cy="1216152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Can 44"/>
          <p:cNvSpPr/>
          <p:nvPr/>
        </p:nvSpPr>
        <p:spPr>
          <a:xfrm>
            <a:off x="10323948" y="2735486"/>
            <a:ext cx="914400" cy="1216152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Can 45"/>
          <p:cNvSpPr/>
          <p:nvPr/>
        </p:nvSpPr>
        <p:spPr>
          <a:xfrm>
            <a:off x="10409476" y="4307948"/>
            <a:ext cx="914400" cy="1216152"/>
          </a:xfrm>
          <a:prstGeom prst="can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49" name="Straight Arrow Connector 48"/>
          <p:cNvCxnSpPr>
            <a:endCxn id="47" idx="1"/>
          </p:cNvCxnSpPr>
          <p:nvPr/>
        </p:nvCxnSpPr>
        <p:spPr>
          <a:xfrm flipV="1">
            <a:off x="9097818" y="3388561"/>
            <a:ext cx="930566" cy="207013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163835" y="309897"/>
            <a:ext cx="2920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STORAGE ARRAY/NFS SERVER</a:t>
            </a:r>
            <a:endParaRPr lang="en-CA" dirty="0"/>
          </a:p>
        </p:txBody>
      </p:sp>
      <p:sp>
        <p:nvSpPr>
          <p:cNvPr id="60" name="Oval 59"/>
          <p:cNvSpPr/>
          <p:nvPr/>
        </p:nvSpPr>
        <p:spPr>
          <a:xfrm>
            <a:off x="5071021" y="1708939"/>
            <a:ext cx="741215" cy="6465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POD 12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6471231" y="1724890"/>
            <a:ext cx="741215" cy="6465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POD 21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407131" y="1745660"/>
            <a:ext cx="741215" cy="6465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latin typeface="Verdana" panose="020B0604030504040204" pitchFamily="34" charset="0"/>
                <a:ea typeface="Verdana" panose="020B0604030504040204" pitchFamily="34" charset="0"/>
              </a:rPr>
              <a:t>POD 22</a:t>
            </a:r>
            <a:endParaRPr lang="en-CA" sz="12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7773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388</Words>
  <Application>Microsoft Office PowerPoint</Application>
  <PresentationFormat>Widescreen</PresentationFormat>
  <Paragraphs>81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20</cp:revision>
  <dcterms:created xsi:type="dcterms:W3CDTF">2023-08-24T11:01:55Z</dcterms:created>
  <dcterms:modified xsi:type="dcterms:W3CDTF">2023-12-09T07:03:12Z</dcterms:modified>
</cp:coreProperties>
</file>